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Demat accounts (Cr)</c:v>
                </c:pt>
              </c:strCache>
            </c:strRef>
          </c:tx>
          <c:spPr>
            <a:solidFill>
              <a:srgbClr val="F5DC8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5F5F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FY21</c:v>
                  </c:pt>
                  <c:pt idx="1">
                    <c:v>FY22</c:v>
                  </c:pt>
                  <c:pt idx="2">
                    <c:v>FY23</c:v>
                  </c:pt>
                  <c:pt idx="3">
                    <c:v>FY24</c:v>
                  </c:pt>
                  <c:pt idx="4">
                    <c:v>FY25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5.5</c:v>
                </c:pt>
                <c:pt idx="1">
                  <c:v>8.9</c:v>
                </c:pt>
                <c:pt idx="2">
                  <c:v>11.4</c:v>
                </c:pt>
                <c:pt idx="3">
                  <c:v>15.1</c:v>
                </c:pt>
                <c:pt idx="4">
                  <c:v>19.2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F5F5F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B2B34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9AA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A6A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1218"/>
        </a:solidFill>
        <a:ln>
          <a:noFill/>
        </a:ln>
        <a:effectLst/>
      </c:spPr>
    </c:plotArea>
    <c:plotVisOnly val="1"/>
    <c:dispBlanksAs val="span"/>
  </c:chart>
  <c:spPr>
    <a:solidFill>
      <a:srgbClr val="121218"/>
    </a:solidFill>
    <a:ln w="12700" cap="flat">
      <a:solidFill>
        <a:srgbClr val="121218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DC8C"/>
              </a:solidFill>
              <a:effectLst/>
            </c:spPr>
          </c:dPt>
          <c:dPt>
            <c:idx val="1"/>
            <c:bubble3D val="0"/>
            <c:spPr>
              <a:solidFill>
                <a:srgbClr val="32D74B"/>
              </a:solidFill>
              <a:effectLst/>
            </c:spPr>
          </c:dPt>
          <c:dPt>
            <c:idx val="2"/>
            <c:bubble3D val="0"/>
            <c:spPr>
              <a:solidFill>
                <a:srgbClr val="3EE6FF"/>
              </a:solidFill>
              <a:effectLst/>
            </c:spPr>
          </c:dPt>
          <c:dPt>
            <c:idx val="3"/>
            <c:bubble3D val="0"/>
            <c:spPr>
              <a:solidFill>
                <a:srgbClr val="6E6E7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Product &amp; engineering — 45%</c:v>
                </c:pt>
                <c:pt idx="1">
                  <c:v>Growth &amp; community — 25%</c:v>
                </c:pt>
                <c:pt idx="2">
                  <c:v>Data &amp; infrastructure — 20%</c:v>
                </c:pt>
                <c:pt idx="3">
                  <c:v>Ops &amp; compliance — 10%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45</c:v>
                </c:pt>
                <c:pt idx="1">
                  <c:v>25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  <c:firstSliceAng val="0"/>
        <c:holeSize val="62"/>
      </c:doughnutChart>
      <c:spPr>
        <a:solidFill>
          <a:srgbClr val="121218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F5F5F7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121218"/>
    </a:solidFill>
    <a:ln w="12700" cap="flat">
      <a:solidFill>
        <a:srgbClr val="121218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69480" y="1170432"/>
            <a:ext cx="4297680" cy="4517136"/>
          </a:xfrm>
          <a:prstGeom prst="roundRect">
            <a:avLst>
              <a:gd name="adj" fmla="val 1915"/>
            </a:avLst>
          </a:prstGeom>
          <a:solidFill>
            <a:srgbClr val="121218"/>
          </a:solidFill>
          <a:ln w="9525">
            <a:solidFill>
              <a:srgbClr val="2B2B34"/>
            </a:solidFill>
            <a:prstDash val="solid"/>
          </a:ln>
        </p:spPr>
      </p:sp>
      <p:pic>
        <p:nvPicPr>
          <p:cNvPr id="3" name="Image 0" descr="C:/Users/yashs/.gemini/antigravity/scratch/5alpha_v2/web/public/brand/alpha-nova-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1353312"/>
            <a:ext cx="3931920" cy="3931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52360" y="53583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9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AT 5ALPHAV2.VERCEL.APP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77240" y="16002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5D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ROUND · 2026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49808" y="1965960"/>
            <a:ext cx="6035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5D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</a:t>
            </a:r>
            <a:pPr indent="0" marL="0">
              <a:buNone/>
            </a:pPr>
            <a:r>
              <a:rPr lang="en-US" sz="66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</a:t>
            </a:r>
            <a:endParaRPr lang="en-US" sz="6600" dirty="0"/>
          </a:p>
        </p:txBody>
      </p:sp>
      <p:sp>
        <p:nvSpPr>
          <p:cNvPr id="7" name="Text 4"/>
          <p:cNvSpPr/>
          <p:nvPr/>
        </p:nvSpPr>
        <p:spPr>
          <a:xfrm>
            <a:off x="777240" y="324612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retail trading terminal, rebuilt.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777240" y="3822192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Institutional-grade signals, options intelligence and risk discipline —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19-crore-account generation that just arrived in the market.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77240" y="4983480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121218"/>
          </a:solidFill>
          <a:ln w="9525">
            <a:solidFill>
              <a:srgbClr val="2B2B3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499262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NSE + US MARKETS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880360" y="4983480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121218"/>
          </a:solidFill>
          <a:ln w="9525">
            <a:solidFill>
              <a:srgbClr val="1E5C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880360" y="499262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D7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 PRODUCTION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074920" y="498348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121218"/>
          </a:solidFill>
          <a:ln w="9525">
            <a:solidFill>
              <a:srgbClr val="B89A4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74920" y="499262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D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/ SEED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D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1002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trades more derivatives than anywhere on Earth. </a:t>
            </a:r>
            <a:pPr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5D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still loses.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2240280"/>
            <a:ext cx="3465576" cy="2651760"/>
          </a:xfrm>
          <a:prstGeom prst="roundRect">
            <a:avLst>
              <a:gd name="adj" fmla="val 3103"/>
            </a:avLst>
          </a:prstGeom>
          <a:solidFill>
            <a:srgbClr val="121218"/>
          </a:solidFill>
          <a:ln w="9525">
            <a:solidFill>
              <a:srgbClr val="2B2B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606040"/>
            <a:ext cx="2916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4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in 10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68680" y="3520440"/>
            <a:ext cx="2916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F&amp;O traders lose money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4407408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SEBI STUDY, FY22–FY24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361688" y="2240280"/>
            <a:ext cx="3465576" cy="2651760"/>
          </a:xfrm>
          <a:prstGeom prst="roundRect">
            <a:avLst>
              <a:gd name="adj" fmla="val 3103"/>
            </a:avLst>
          </a:prstGeom>
          <a:solidFill>
            <a:srgbClr val="121218"/>
          </a:solidFill>
          <a:ln w="9525">
            <a:solidFill>
              <a:srgbClr val="2B2B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6008" y="2606040"/>
            <a:ext cx="2916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4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₹1.8 L Cr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636008" y="3520440"/>
            <a:ext cx="2916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retail losses in F&amp;O over just three years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36008" y="4407408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SEBI, FY22–FY24 AGGREGATE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129016" y="2240280"/>
            <a:ext cx="3465576" cy="2651760"/>
          </a:xfrm>
          <a:prstGeom prst="roundRect">
            <a:avLst>
              <a:gd name="adj" fmla="val 3103"/>
            </a:avLst>
          </a:prstGeom>
          <a:solidFill>
            <a:srgbClr val="121218"/>
          </a:solidFill>
          <a:ln w="9525">
            <a:solidFill>
              <a:srgbClr val="2B2B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03336" y="2606040"/>
            <a:ext cx="2916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D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5+ apps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403336" y="3520440"/>
            <a:ext cx="2916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trading decision — charts, options, news, tips, sizing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403336" y="4407408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TOOLING, ZERO ACCOUNTABILITY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94360" y="534924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tools are fragmented. The advice is unaccountable. The risk is invisible.  </a:t>
            </a:r>
            <a:pPr indent="0" marL="0">
              <a:buNone/>
            </a:pPr>
            <a:r>
              <a:rPr lang="en-US" sz="1600" b="1" dirty="0">
                <a:solidFill>
                  <a:srgbClr val="F5D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sells discipline.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89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Nova</a:t>
            </a:r>
            <a:pPr algn="l" indent="0" marL="0">
              <a:buNone/>
            </a:pPr>
            <a:r>
              <a:rPr lang="en-US" sz="850" dirty="0">
                <a:solidFill>
                  <a:srgbClr val="6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Confidential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277295" y="645566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D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1002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terminal. Every trade arrives </a:t>
            </a:r>
            <a:pPr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5D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plan.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22402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121218"/>
          </a:solidFill>
          <a:ln w="9525">
            <a:solidFill>
              <a:srgbClr val="2B2B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44144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D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Scored setups, 0–100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68680" y="2807208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signal ships with entry, stop and 1.5R target — sized by an 8-factor conviction engine across OI, momentum, options flow and regime.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45352" y="22402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121218"/>
          </a:solidFill>
          <a:ln w="9525">
            <a:solidFill>
              <a:srgbClr val="2B2B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19672" y="244144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D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track record kept in public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519672" y="2807208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published signal is paper-traded into a live model book — wins, losses, win rate, equity curve. Auditable by anyone, any day.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420624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121218"/>
          </a:solidFill>
          <a:ln w="9525">
            <a:solidFill>
              <a:srgbClr val="2B2B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40740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D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analytics, free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68680" y="4773168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ATM IV solved from straddles, max pain, sector rotation maps, insider and block prints, FII/DII flows — the desk toolkit, in a browser.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45352" y="420624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121218"/>
          </a:solidFill>
          <a:ln w="9525">
            <a:solidFill>
              <a:srgbClr val="2B2B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9672" y="440740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D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discipline layer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519672" y="4773168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sizing before entry, streaks and a daily market call — habit loops built around process, not dopamine.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4360" y="6172200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to use. Guests get the full terminal — accounts capture watchlists, alerts and the leaderboard.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4360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89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Nova</a:t>
            </a:r>
            <a:pPr algn="l" indent="0" marL="0">
              <a:buNone/>
            </a:pPr>
            <a:r>
              <a:rPr lang="en-US" sz="850" dirty="0">
                <a:solidFill>
                  <a:srgbClr val="6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Confidential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277295" y="645566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D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1002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live modules. Two markets. </a:t>
            </a:r>
            <a:pPr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5D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setup.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2148840"/>
            <a:ext cx="3465576" cy="1572768"/>
          </a:xfrm>
          <a:prstGeom prst="roundRect">
            <a:avLst>
              <a:gd name="adj" fmla="val 5233"/>
            </a:avLst>
          </a:prstGeom>
          <a:solidFill>
            <a:srgbClr val="121218"/>
          </a:solidFill>
          <a:ln w="9525">
            <a:solidFill>
              <a:srgbClr val="2B2B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2331720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Signals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50392" y="2679192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Regime context, OI buildups, scored trade plans — NSE by day, US by night.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61688" y="2148840"/>
            <a:ext cx="3465576" cy="1572768"/>
          </a:xfrm>
          <a:prstGeom prst="roundRect">
            <a:avLst>
              <a:gd name="adj" fmla="val 5233"/>
            </a:avLst>
          </a:prstGeom>
          <a:solidFill>
            <a:srgbClr val="121218"/>
          </a:solidFill>
          <a:ln w="9525">
            <a:solidFill>
              <a:srgbClr val="2B2B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2331720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 Intelligence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17720" y="2679192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chain, straddle-solved ATM IV, max pain, PCR, support/resistance walls.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129016" y="2148840"/>
            <a:ext cx="3465576" cy="1572768"/>
          </a:xfrm>
          <a:prstGeom prst="roundRect">
            <a:avLst>
              <a:gd name="adj" fmla="val 5233"/>
            </a:avLst>
          </a:prstGeom>
          <a:solidFill>
            <a:srgbClr val="121218"/>
          </a:solidFill>
          <a:ln w="9525">
            <a:solidFill>
              <a:srgbClr val="2B2B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85048" y="2331720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Rotation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85048" y="2679192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RRG of 12 sectors vs the index — see money rotate before it's news.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3977640"/>
            <a:ext cx="3465576" cy="1572768"/>
          </a:xfrm>
          <a:prstGeom prst="roundRect">
            <a:avLst>
              <a:gd name="adj" fmla="val 5233"/>
            </a:avLst>
          </a:prstGeom>
          <a:solidFill>
            <a:srgbClr val="121218"/>
          </a:solidFill>
          <a:ln w="9525">
            <a:solidFill>
              <a:srgbClr val="2B2B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4160520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&amp; Breakouts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50392" y="4507992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20D / 3M / 52W highs flagged the day they print, with volume context.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61688" y="3977640"/>
            <a:ext cx="3465576" cy="1572768"/>
          </a:xfrm>
          <a:prstGeom prst="roundRect">
            <a:avLst>
              <a:gd name="adj" fmla="val 5233"/>
            </a:avLst>
          </a:prstGeom>
          <a:solidFill>
            <a:srgbClr val="121218"/>
          </a:solidFill>
          <a:ln w="9525">
            <a:solidFill>
              <a:srgbClr val="2B2B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4160520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Smart-Money Trail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17720" y="4507992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FII/DII flows, bulk &amp; block deals, insider prints with true buy/sell direction.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29016" y="3977640"/>
            <a:ext cx="3465576" cy="1572768"/>
          </a:xfrm>
          <a:prstGeom prst="roundRect">
            <a:avLst>
              <a:gd name="adj" fmla="val 5233"/>
            </a:avLst>
          </a:prstGeom>
          <a:solidFill>
            <a:srgbClr val="121218"/>
          </a:solidFill>
          <a:ln w="9525">
            <a:solidFill>
              <a:srgbClr val="2B2B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85048" y="4160520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&amp; Valuation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85048" y="4507992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SARIMAX projection bands, DCF, quant screener, guru screens, AI briefs.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4360" y="59436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21218"/>
          </a:solidFill>
          <a:ln w="9525">
            <a:solidFill>
              <a:srgbClr val="2B2B3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59527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+ INSTALLABLE PWA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108960" y="59436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21218"/>
          </a:solidFill>
          <a:ln w="9525">
            <a:solidFill>
              <a:srgbClr val="2B2B3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59527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PUSH ALERTS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0" y="594360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121218"/>
          </a:solidFill>
          <a:ln w="9525">
            <a:solidFill>
              <a:srgbClr val="2B2B3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0" y="59527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 MODE → FREE ACCOUNT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549640" y="594360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121218"/>
          </a:solidFill>
          <a:ln w="9525">
            <a:solidFill>
              <a:srgbClr val="2B2B3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49640" y="595274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140+ AUTOMATED TESTS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94360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89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Nova</a:t>
            </a:r>
            <a:pPr algn="l" indent="0" marL="0">
              <a:buNone/>
            </a:pPr>
            <a:r>
              <a:rPr lang="en-US" sz="850" dirty="0">
                <a:solidFill>
                  <a:srgbClr val="6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Confidential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277295" y="645566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D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1002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generation just arrived in the market — </a:t>
            </a:r>
            <a:pPr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5D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no tools built for it.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22860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World's largest options market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2633472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NSE is #1 globally by contracts traded. Retail is the majority of that flow.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94360" y="354787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Demat accounts tripled in four years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3895344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 crore to ~19 crore (FY21 → FY25). First-time traders need process, not more noise.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4360" y="480974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Regulators are forcing accountability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5157216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SEBI is squeezing unregistered tip-sellers. Verified, auditable analytics are the compliant answer.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80760" y="2148840"/>
            <a:ext cx="5513832" cy="4114800"/>
          </a:xfrm>
          <a:prstGeom prst="roundRect">
            <a:avLst>
              <a:gd name="adj" fmla="val 2000"/>
            </a:avLst>
          </a:prstGeom>
          <a:solidFill>
            <a:srgbClr val="121218"/>
          </a:solidFill>
          <a:ln w="9525">
            <a:solidFill>
              <a:srgbClr val="2B2B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331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D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DEMAT ACCOUNTS IN INDIA (CRORE)</a:t>
            </a:r>
            <a:endParaRPr lang="en-US" sz="10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6355080" y="2697480"/>
          <a:ext cx="49834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/>
          <p:nvPr/>
        </p:nvSpPr>
        <p:spPr>
          <a:xfrm>
            <a:off x="6355080" y="587044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NSDL + CDSL published totals (approx.)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94360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89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Nova</a:t>
            </a:r>
            <a:pPr algn="l" indent="0" marL="0">
              <a:buNone/>
            </a:pPr>
            <a:r>
              <a:rPr lang="en-US" sz="850" dirty="0">
                <a:solidFill>
                  <a:srgbClr val="6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Confidential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277295" y="645566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D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1002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large, young market — </a:t>
            </a:r>
            <a:pPr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5D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priced for a free-first wedge.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2240280"/>
            <a:ext cx="3465576" cy="2880360"/>
          </a:xfrm>
          <a:prstGeom prst="roundRect">
            <a:avLst>
              <a:gd name="adj" fmla="val 2857"/>
            </a:avLst>
          </a:prstGeom>
          <a:solidFill>
            <a:srgbClr val="121218"/>
          </a:solidFill>
          <a:ln w="9525">
            <a:solidFill>
              <a:srgbClr val="2B2B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4688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D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788920"/>
            <a:ext cx="2916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Cr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68680" y="3657600"/>
            <a:ext cx="2916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demat accounts in India — the retail investing population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443484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account is a potential terminal user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61688" y="2240280"/>
            <a:ext cx="3465576" cy="2880360"/>
          </a:xfrm>
          <a:prstGeom prst="roundRect">
            <a:avLst>
              <a:gd name="adj" fmla="val 2857"/>
            </a:avLst>
          </a:prstGeom>
          <a:solidFill>
            <a:srgbClr val="121218"/>
          </a:solidFill>
          <a:ln w="9525">
            <a:solidFill>
              <a:srgbClr val="2B2B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008" y="24688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D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36008" y="2788920"/>
            <a:ext cx="2916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~1.2 Cr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4636008" y="3657600"/>
            <a:ext cx="2916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derivatives &amp; serious equity traders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636008" y="443484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weekly, already pay for data, tips or tools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29016" y="2240280"/>
            <a:ext cx="3465576" cy="2880360"/>
          </a:xfrm>
          <a:prstGeom prst="roundRect">
            <a:avLst>
              <a:gd name="adj" fmla="val 2857"/>
            </a:avLst>
          </a:prstGeom>
          <a:solidFill>
            <a:srgbClr val="121218"/>
          </a:solidFill>
          <a:ln w="9525">
            <a:solidFill>
              <a:srgbClr val="2B2B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03336" y="24688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D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03336" y="2788920"/>
            <a:ext cx="2916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L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8403336" y="3657600"/>
            <a:ext cx="2916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registered users within 3 years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403336" y="443484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5% Pro conversion ≈ ₹24 Cr ARR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" y="5486400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points: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TradingView ₹995+/mo · Sensibull ₹800/mo · Trendlyne ₹500+/mo — all partial stacks. Alpha Nova Pro undercuts at ₹399/mo with the full stack.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94360" y="605332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estimates, 2026. SAM from SEBI active-trader studies; SOM assumes GTM below.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94360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89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Nova</a:t>
            </a:r>
            <a:pPr algn="l" indent="0" marL="0">
              <a:buNone/>
            </a:pPr>
            <a:r>
              <a:rPr lang="en-US" sz="850" dirty="0">
                <a:solidFill>
                  <a:srgbClr val="6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Confidential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277295" y="645566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D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1002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terminal builds the audience. </a:t>
            </a:r>
            <a:pPr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5D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sells the edge.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2194560"/>
            <a:ext cx="3465576" cy="3108960"/>
          </a:xfrm>
          <a:prstGeom prst="roundRect">
            <a:avLst>
              <a:gd name="adj" fmla="val 2647"/>
            </a:avLst>
          </a:prstGeom>
          <a:solidFill>
            <a:srgbClr val="121218"/>
          </a:solidFill>
          <a:ln w="9525">
            <a:solidFill>
              <a:srgbClr val="2B2B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395728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68680" y="2697480"/>
            <a:ext cx="2916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68680" y="3310128"/>
            <a:ext cx="296265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terminal — all 22 modules</a:t>
            </a:r>
            <a:endParaRPr lang="en-US" sz="1050" dirty="0"/>
          </a:p>
          <a:p>
            <a:pPr marL="127000" indent="-1270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Delayed signal alerts</a:t>
            </a:r>
            <a:endParaRPr lang="en-US" sz="1050" dirty="0"/>
          </a:p>
          <a:p>
            <a:pPr marL="127000" indent="-1270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Watchlist, leaderboard, community</a:t>
            </a:r>
            <a:endParaRPr lang="en-US" sz="1050" dirty="0"/>
          </a:p>
          <a:p>
            <a:pPr marL="127000" indent="-1270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funnel: every user compounds the track record's audience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61688" y="2194560"/>
            <a:ext cx="3465576" cy="3108960"/>
          </a:xfrm>
          <a:prstGeom prst="roundRect">
            <a:avLst>
              <a:gd name="adj" fmla="val 2647"/>
            </a:avLst>
          </a:prstGeom>
          <a:solidFill>
            <a:srgbClr val="17171F"/>
          </a:solidFill>
          <a:ln w="9525">
            <a:solidFill>
              <a:srgbClr val="2B2B3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61688" y="2194560"/>
            <a:ext cx="3465576" cy="3108960"/>
          </a:xfrm>
          <a:prstGeom prst="roundRect">
            <a:avLst>
              <a:gd name="adj" fmla="val 2647"/>
            </a:avLst>
          </a:prstGeom>
          <a:ln w="19050">
            <a:solidFill>
              <a:srgbClr val="B89A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008" y="2395728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5D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636008" y="2697480"/>
            <a:ext cx="2916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₹399/mo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36008" y="3310128"/>
            <a:ext cx="296265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push the moment a setup scores</a:t>
            </a:r>
            <a:endParaRPr lang="en-US" sz="1050" dirty="0"/>
          </a:p>
          <a:p>
            <a:pPr marL="127000" indent="-1270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signal history + performance analytics</a:t>
            </a:r>
            <a:endParaRPr lang="en-US" sz="1050" dirty="0"/>
          </a:p>
          <a:p>
            <a:pPr marL="127000" indent="-1270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research briefs on every module</a:t>
            </a:r>
            <a:endParaRPr lang="en-US" sz="1050" dirty="0"/>
          </a:p>
          <a:p>
            <a:pPr marL="127000" indent="-1270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data refresh &amp; early features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29016" y="2194560"/>
            <a:ext cx="3465576" cy="3108960"/>
          </a:xfrm>
          <a:prstGeom prst="roundRect">
            <a:avLst>
              <a:gd name="adj" fmla="val 2647"/>
            </a:avLst>
          </a:prstGeom>
          <a:solidFill>
            <a:srgbClr val="121218"/>
          </a:solidFill>
          <a:ln w="9525">
            <a:solidFill>
              <a:srgbClr val="2B2B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03336" y="2395728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(LATER)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03336" y="2697480"/>
            <a:ext cx="2916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+ referrals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403336" y="3310128"/>
            <a:ext cx="296265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 &amp; analytics API for brokers, advisors, media</a:t>
            </a:r>
            <a:endParaRPr lang="en-US" sz="1050" dirty="0"/>
          </a:p>
          <a:p>
            <a:pPr marL="127000" indent="-1270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 referral revenue per funded account</a:t>
            </a:r>
            <a:endParaRPr lang="en-US" sz="1050" dirty="0"/>
          </a:p>
          <a:p>
            <a:pPr marL="127000" indent="-1270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'terminal-as-a-service' for discount brokers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4360" y="562356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D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economics:  </a:t>
            </a:r>
            <a:pPr indent="0" marL="0">
              <a:buNone/>
            </a:pPr>
            <a:r>
              <a:rPr lang="en-US" sz="125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data sources + serverless infra → &gt;85% gross margin. Entire production stack runs on under ₹10K/month today.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94360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89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Nova</a:t>
            </a:r>
            <a:pPr algn="l" indent="0" marL="0">
              <a:buNone/>
            </a:pPr>
            <a:r>
              <a:rPr lang="en-US" sz="850" dirty="0">
                <a:solidFill>
                  <a:srgbClr val="6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Confidential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277295" y="645566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D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WIN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1002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moat is trust — </a:t>
            </a:r>
            <a:pPr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5D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trust takes time competitors don't have.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224028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121218"/>
          </a:solidFill>
          <a:ln w="9525">
            <a:solidFill>
              <a:srgbClr val="2B2B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44144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D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public, auditable track record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807208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signal ever published sits in a live model book. A rival can copy features tomorrow; it cannot copy two years of timestamped performance.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45352" y="224028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121218"/>
          </a:solidFill>
          <a:ln w="9525">
            <a:solidFill>
              <a:srgbClr val="2B2B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19672" y="244144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D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quant engine, in-house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19672" y="2807208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8-factor signal scoring, straddle-solved IV, regime detection, RRG rotation, EOD bhavcopy reconstruction — proprietary and battle-tested in production.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429768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121218"/>
          </a:solidFill>
          <a:ln w="9525">
            <a:solidFill>
              <a:srgbClr val="2B2B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49884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D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by design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4864608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call, streaks, leaderboard and push alerts create a morning habit. The product is opened because the market opened.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45352" y="429768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121218"/>
          </a:solidFill>
          <a:ln w="9525">
            <a:solidFill>
              <a:srgbClr val="2B2B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9672" y="449884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D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cost structure rivals can't match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19672" y="4864608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+ public data = pennies per user. Free tier is sustainable indefinitely — we can wait out anyone who has to charge on day one.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4360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89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Nova</a:t>
            </a:r>
            <a:pPr algn="l" indent="0" marL="0">
              <a:buNone/>
            </a:pPr>
            <a:r>
              <a:rPr lang="en-US" sz="850" dirty="0">
                <a:solidFill>
                  <a:srgbClr val="6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Confidential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277295" y="645566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D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1002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Product-complete and live. </a:t>
            </a:r>
            <a:pPr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5D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we pour fuel on it.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2148840"/>
            <a:ext cx="5074920" cy="3977640"/>
          </a:xfrm>
          <a:prstGeom prst="roundRect">
            <a:avLst>
              <a:gd name="adj" fmla="val 2069"/>
            </a:avLst>
          </a:prstGeom>
          <a:solidFill>
            <a:srgbClr val="121218"/>
          </a:solidFill>
          <a:ln w="9525">
            <a:solidFill>
              <a:srgbClr val="2B2B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331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D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 —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697480"/>
            <a:ext cx="4526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900"/>
              </a:spcAft>
              <a:buSzPct val="100000"/>
              <a:buChar char="✓"/>
            </a:pPr>
            <a:r>
              <a:rPr lang="en-US" sz="12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 production — web + installable PWA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900"/>
              </a:spcAft>
              <a:buSzPct val="100000"/>
              <a:buChar char="✓"/>
            </a:pPr>
            <a:r>
              <a:rPr lang="en-US" sz="12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modules across NSE &amp; US sessions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900"/>
              </a:spcAft>
              <a:buSzPct val="100000"/>
              <a:buChar char="✓"/>
            </a:pPr>
            <a:r>
              <a:rPr lang="en-US" sz="12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engine + public model-book track record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900"/>
              </a:spcAft>
              <a:buSzPct val="100000"/>
              <a:buChar char="✓"/>
            </a:pPr>
            <a:r>
              <a:rPr lang="en-US" sz="12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push alerts, share cards, guest→signup funnel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900"/>
              </a:spcAft>
              <a:buSzPct val="100000"/>
              <a:buChar char="✓"/>
            </a:pPr>
            <a:r>
              <a:rPr lang="en-US" sz="12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140+ automated tests · hardened &amp; edge-cached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900"/>
              </a:spcAft>
              <a:buSzPct val="100000"/>
              <a:buChar char="✓"/>
            </a:pPr>
            <a:r>
              <a:rPr lang="en-US" sz="12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8-spot marketing ad set, ready to run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89320" y="2148840"/>
            <a:ext cx="5605272" cy="1234440"/>
          </a:xfrm>
          <a:prstGeom prst="roundRect">
            <a:avLst>
              <a:gd name="adj" fmla="val 6667"/>
            </a:avLst>
          </a:prstGeom>
          <a:solidFill>
            <a:srgbClr val="121218"/>
          </a:solidFill>
          <a:ln w="9525">
            <a:solidFill>
              <a:srgbClr val="2B2B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3640" y="2295144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D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'26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269480" y="22951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+ Pro tier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269480" y="2624328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marketing engine, seed communities, ship Pro at ₹399/mo. Target: first 10,000 registered users.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89320" y="3520440"/>
            <a:ext cx="5605272" cy="1234440"/>
          </a:xfrm>
          <a:prstGeom prst="roundRect">
            <a:avLst>
              <a:gd name="adj" fmla="val 6667"/>
            </a:avLst>
          </a:prstGeom>
          <a:solidFill>
            <a:srgbClr val="121218"/>
          </a:solidFill>
          <a:ln w="9525">
            <a:solidFill>
              <a:srgbClr val="2B2B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3666744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D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'26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269480" y="36667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tap from plan to order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269480" y="3995928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 API integration — execute a scored plan, pre-sized, in one tap. Mobile store wrappers.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89320" y="4892040"/>
            <a:ext cx="5605272" cy="1234440"/>
          </a:xfrm>
          <a:prstGeom prst="roundRect">
            <a:avLst>
              <a:gd name="adj" fmla="val 6667"/>
            </a:avLst>
          </a:prstGeom>
          <a:solidFill>
            <a:srgbClr val="121218"/>
          </a:solidFill>
          <a:ln w="9525">
            <a:solidFill>
              <a:srgbClr val="2B2B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5038344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D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'27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269480" y="50383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&amp; B2B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269480" y="5367528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Verified-performance profiles, discipline leagues, signals API pilot with a discount broker.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" y="626364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status: pre-revenue, pre-marketing — the raise funds distribution, not discovery of product-market shape.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4360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89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Nova</a:t>
            </a:r>
            <a:pPr algn="l" indent="0" marL="0">
              <a:buNone/>
            </a:pPr>
            <a:r>
              <a:rPr lang="en-US" sz="850" dirty="0">
                <a:solidFill>
                  <a:srgbClr val="6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Confidential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277295" y="645566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D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1002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 is the content. </a:t>
            </a:r>
            <a:pPr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5D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users are the channel.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2148840"/>
            <a:ext cx="11002975" cy="914400"/>
          </a:xfrm>
          <a:prstGeom prst="roundRect">
            <a:avLst>
              <a:gd name="adj" fmla="val 9000"/>
            </a:avLst>
          </a:prstGeom>
          <a:solidFill>
            <a:srgbClr val="121218"/>
          </a:solidFill>
          <a:ln w="9525">
            <a:solidFill>
              <a:srgbClr val="2B2B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31343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9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45920" y="227685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5D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virality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120640" y="2258568"/>
            <a:ext cx="6172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chart, forecast and signal exports a branded share card in one tap. Leaderboards and streaks pull friends in — each share carries the URL.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4360" y="3200400"/>
            <a:ext cx="11002975" cy="914400"/>
          </a:xfrm>
          <a:prstGeom prst="roundRect">
            <a:avLst>
              <a:gd name="adj" fmla="val 9000"/>
            </a:avLst>
          </a:prstGeom>
          <a:solidFill>
            <a:srgbClr val="121218"/>
          </a:solidFill>
          <a:ln w="9525">
            <a:solidFill>
              <a:srgbClr val="2B2B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36499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9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45920" y="332841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5D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signal feed is a content engine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120640" y="3310128"/>
            <a:ext cx="6172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scored plans + the public track record auto-publish to X, Telegram and Shorts. Performance content that writes itself, every market day.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" y="4251960"/>
            <a:ext cx="11002975" cy="914400"/>
          </a:xfrm>
          <a:prstGeom prst="roundRect">
            <a:avLst>
              <a:gd name="adj" fmla="val 9000"/>
            </a:avLst>
          </a:prstGeom>
          <a:solidFill>
            <a:srgbClr val="121218"/>
          </a:solidFill>
          <a:ln w="9525">
            <a:solidFill>
              <a:srgbClr val="2B2B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41655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9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45920" y="43799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5D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Educator &amp; community seeding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120640" y="4361688"/>
            <a:ext cx="6172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Pro for finance educators; the Learn tab funnels their audiences. Terminal embeds for trading Discords and Telegram groups.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4360" y="5303520"/>
            <a:ext cx="11002975" cy="914400"/>
          </a:xfrm>
          <a:prstGeom prst="roundRect">
            <a:avLst>
              <a:gd name="adj" fmla="val 9000"/>
            </a:avLst>
          </a:prstGeom>
          <a:solidFill>
            <a:srgbClr val="121218"/>
          </a:solidFill>
          <a:ln w="9525">
            <a:solidFill>
              <a:srgbClr val="2B2B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46811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9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45920" y="543153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5D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 partnerships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120640" y="5413248"/>
            <a:ext cx="6172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 brokers need engagement; we need execution. Referral revenue per funded account, then embedded order routing.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4360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89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Nova</a:t>
            </a:r>
            <a:pPr algn="l" indent="0" marL="0">
              <a:buNone/>
            </a:pPr>
            <a:r>
              <a:rPr lang="en-US" sz="850" dirty="0">
                <a:solidFill>
                  <a:srgbClr val="6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Confidential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277295" y="645566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D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1002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owns a slice. </a:t>
            </a:r>
            <a:pPr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5D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owns the loop.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148840"/>
          <a:ext cx="11002975" cy="914400"/>
        </p:xfrm>
        <a:graphic>
          <a:graphicData uri="http://schemas.openxmlformats.org/drawingml/2006/table">
            <a:tbl>
              <a:tblPr/>
              <a:tblGrid>
                <a:gridCol w="3246120"/>
                <a:gridCol w="1600200"/>
                <a:gridCol w="1572768"/>
                <a:gridCol w="1527048"/>
                <a:gridCol w="1527048"/>
                <a:gridCol w="1527048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D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Alpha Nova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9A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TradingView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9A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Sensibull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9A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Screener.in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9A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Telegram tips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Scored trade plans (entry/stop/target)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2D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A6A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D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A6A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D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Published, auditable track record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2D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A6A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A6A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A6A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A6A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Options IV &amp; flow intelligence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2D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D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2D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A6A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A6A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Risk-first position sizing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2D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A6A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D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A6A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A6A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India F&amp;O native (NSE live)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2D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D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2D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A6A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2D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Fundamentals + screeners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2D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D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A6A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2D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A6A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 · ₹399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₹995+/mo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₹800/mo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₹4,999/yr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'free' + losses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94360" y="6172200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Assessment: public pricing/features, July 2026. ◐ = partial coverage.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94360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89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Nova</a:t>
            </a:r>
            <a:pPr algn="l" indent="0" marL="0">
              <a:buNone/>
            </a:pPr>
            <a:r>
              <a:rPr lang="en-US" sz="850" dirty="0">
                <a:solidFill>
                  <a:srgbClr val="6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Confidential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277295" y="645566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D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1002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Raising ₹4 Cr seed </a:t>
            </a:r>
            <a:pPr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5D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18 months of distribution.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2148840"/>
            <a:ext cx="5074920" cy="3977640"/>
          </a:xfrm>
          <a:prstGeom prst="roundRect">
            <a:avLst>
              <a:gd name="adj" fmla="val 2069"/>
            </a:avLst>
          </a:prstGeom>
          <a:solidFill>
            <a:srgbClr val="121218"/>
          </a:solidFill>
          <a:ln w="9525">
            <a:solidFill>
              <a:srgbClr val="2B2B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3317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D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2651760"/>
          <a:ext cx="46177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989320" y="2148840"/>
            <a:ext cx="5605272" cy="896112"/>
          </a:xfrm>
          <a:prstGeom prst="roundRect">
            <a:avLst>
              <a:gd name="adj" fmla="val 9184"/>
            </a:avLst>
          </a:prstGeom>
          <a:solidFill>
            <a:srgbClr val="121218"/>
          </a:solidFill>
          <a:ln w="9525">
            <a:solidFill>
              <a:srgbClr val="2B2B3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63640" y="225856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18-month runway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263640" y="2569464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hires — two engineers, one growth lead — plus founder.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989320" y="3172968"/>
            <a:ext cx="5605272" cy="896112"/>
          </a:xfrm>
          <a:prstGeom prst="roundRect">
            <a:avLst>
              <a:gd name="adj" fmla="val 9184"/>
            </a:avLst>
          </a:prstGeom>
          <a:solidFill>
            <a:srgbClr val="121218"/>
          </a:solidFill>
          <a:ln w="9525">
            <a:solidFill>
              <a:srgbClr val="2B2B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63640" y="328269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100K registered · 5K Pro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263640" y="359359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₹2.4 Cr ARR exiting month 18; Pro launches in the first quarter post-close.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989320" y="4197096"/>
            <a:ext cx="5605272" cy="896112"/>
          </a:xfrm>
          <a:prstGeom prst="roundRect">
            <a:avLst>
              <a:gd name="adj" fmla="val 9184"/>
            </a:avLst>
          </a:prstGeom>
          <a:solidFill>
            <a:srgbClr val="121218"/>
          </a:solidFill>
          <a:ln w="9525">
            <a:solidFill>
              <a:srgbClr val="2B2B3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63640" y="430682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 integration shipped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263640" y="46177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Plan-to-order execution — the step that turns analytics into a transactional business.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989320" y="5221224"/>
            <a:ext cx="5605272" cy="896112"/>
          </a:xfrm>
          <a:prstGeom prst="roundRect">
            <a:avLst>
              <a:gd name="adj" fmla="val 9184"/>
            </a:avLst>
          </a:prstGeom>
          <a:solidFill>
            <a:srgbClr val="121218"/>
          </a:solidFill>
          <a:ln w="9525">
            <a:solidFill>
              <a:srgbClr val="2B2B3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63640" y="533095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pathway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263640" y="564184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SEBI Research Analyst registration — turning the public track record into a regulated asset.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94360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89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Nova</a:t>
            </a:r>
            <a:pPr algn="l" indent="0" marL="0">
              <a:buNone/>
            </a:pPr>
            <a:r>
              <a:rPr lang="en-US" sz="850" dirty="0">
                <a:solidFill>
                  <a:srgbClr val="6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Confidential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1277295" y="645566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yashs/.gemini/antigravity/scratch/5alpha_v2/web/public/icons/icon-512-v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3248" y="1371600"/>
            <a:ext cx="1371600" cy="137160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2441448" y="29260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D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</a:t>
            </a:r>
            <a:pPr algn="ctr" indent="0" marL="0">
              <a:buNone/>
            </a:pPr>
            <a:r>
              <a:rPr lang="en-US" sz="4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2441448" y="3886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with a plan.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2441448" y="4892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D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abhishek_sarda@yahoo.com</a:t>
            </a:r>
            <a:pPr algn="ctr" indent="0" marL="0">
              <a:buNone/>
            </a:pPr>
            <a:r>
              <a:rPr lang="en-US" sz="1400" b="1" dirty="0">
                <a:solidFill>
                  <a:srgbClr val="6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</a:t>
            </a:r>
            <a:pPr algn="ctr" indent="0" marL="0">
              <a:buNone/>
            </a:pPr>
            <a:r>
              <a:rPr lang="en-US" sz="1400" b="1" dirty="0">
                <a:solidFill>
                  <a:srgbClr val="F5D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5alphav2.vercel.app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441448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deck contains forward-looking estimates; product metrics are live and verifiable in-app.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Alpha Nova — Seed Round</dc:title>
  <dc:subject>PptxGenJS Presentation</dc:subject>
  <dc:creator>Alpha Nova</dc:creator>
  <cp:lastModifiedBy>Alpha Nova</cp:lastModifiedBy>
  <cp:revision>1</cp:revision>
  <dcterms:created xsi:type="dcterms:W3CDTF">2026-07-10T23:43:13Z</dcterms:created>
  <dcterms:modified xsi:type="dcterms:W3CDTF">2026-07-10T23:43:13Z</dcterms:modified>
</cp:coreProperties>
</file>