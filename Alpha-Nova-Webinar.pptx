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Quick framing before we start: this is not a stock-tips session. Over the next 45 minutes I'll walk you through Alpha Nova as infrastructure — the same way an institutional desk thinks about its tooling. Everything you'll see is live production, not mockups.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narrative here. The left card is how most retail participants operate — someone else's conviction with zero infrastructure. The right card is what we're building toward today. Emphasize: the difference isn't intelligence, it's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the audience: every screen they'll see today lives in one of these three layers. Data is sourced from NSE and public feeds; models turn it into scores with documented weights; discipline turns scores into sized, journaled decisions. The loop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walkthrough moment #1 — switch to the browser if bandwidth allows. Show the mover click-through into Chart Analyser. Key message: the dashboard is a command surface. You leave it with a hypothesis, not a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platform. Walk the page top to bottom in the live app: regime first, then options intelligence, then setups. Stress that a 48-score setup and a 75-score setup are different animals, and the engine refuses to show anything below 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 — this slide IS the anti-black-box argument. Read two or three factors aloud. The point isn't the specific weights; it's that they exist, they're documented, and they're stable. Contrast with 'proprietary AI secret sauce'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NIFTY live: point at max pain vs spot, then the support/resistance strikes. The mental shift: the chain is a positioning map, not a crystal ball. The Signals tab already distills this — the chain is where you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aggregation: a name that's #2 in momentum AND has a delivery spurt AND a fresh long buildup outranks any single-engine flag. This kills the 'what should I watch today' question systematically.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default screen live. Point at NVDA vs a value trap: the old world scores cheapness; the pillar model scores the whole business. Mention the pillars are documented — same transparency story as the conviction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dashboard mover click-through landing here pre-loaded. The checklist framing matters: VCP stars and the pass/fail ticks turn 'vibes' chart-reading into a repeatable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data updates itself daily at ~7:30pm IST via cron — infrastructure, not homework. The CLV+delivery rule is the same one wired into the conviction score's 10 delivery points. One model,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SARIMAX carefully for this audience: it's a banding tool, not a prophecy machine. The honest framing builds more trust than any accuracy claim — that's the systematic-infrastructure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most retail journeys fail. The platform computes quantity from risk, not from confidence. Tell the story: a 60% hit-rate system with bad sizing still blows up. Arena gamification exists because journaling is the least fun, highest-value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actionable slide — encourage screenshots. Five touchpoints, maybe 40 minutes of total attention per day. The platform automates everything between the touchpoints, including the delivery data refresh and the signal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narrative, not on features. One sentence: 'Everything you saw is documented, risk-adjusted, and repeatable — that's the whole pitch.' Then open Q&amp;A. Common questions: data sources (NSE + public feeds), AI usage (user-keyed Gemini, optional), pricing/access.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960120" cy="960120"/>
          </a:xfrm>
          <a:prstGeom prst="roundRect">
            <a:avLst>
              <a:gd name="adj" fmla="val 24762"/>
            </a:avLst>
          </a:prstGeom>
          <a:solidFill>
            <a:srgbClr val="E8C47C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580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60604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Trading Infrastructure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Masterclass  ·  Live Webinar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5alphav2.vercel.app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39712" y="1508760"/>
            <a:ext cx="4837176" cy="2940431"/>
          </a:xfrm>
          <a:prstGeom prst="roundRect">
            <a:avLst>
              <a:gd name="adj" fmla="val 2799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C:\Users\yashs\.gemini\antigravity\scratch\5alpha_v2\research\webinar-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72768"/>
            <a:ext cx="4709160" cy="28124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expire. Systems compound.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TIP-CHASING LOOP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else's conviction, borrowed for free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entry logic, no exit logic, no sizing logic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“Black-box AI” claims you can't audit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Unmeasurable — you can't improve what you can't replay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1D19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SYSTEMATIC LOOP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factors — every score decomposes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Entry, stop, target and size computed before you act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lens: Sharpe / Sortino, not screenshots of wins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daily process — measured, journaled, improved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platform as your analytical engine — data, models, and discipline in one loop.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layers. One loop.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037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172968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option chains (live)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% + CLV (daily EOD)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FII / DII institutional flow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&amp; price history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+ sentiment scoring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50208" y="3520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B1B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2037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2715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172968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Conviction score 0–100 (7 factors)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 Score v2 (4 pillars)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regime engine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SARIMAX trajectory bands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Keyless news sentiment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44968" y="3520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22037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2715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3172968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sizing (1% rule)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List (signal aggregation)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signal alerts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Arena journaling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Regime-scaled exposure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feeds models. Models feed discipline. Discipline feeds back into what you watch next.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where the market is.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Movers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day's heavyweight action. Every tile is clickable — it opens the full chart instantly.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strip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NIFTY, BANKNIFTY, VIX, USD/INR. Ten seconds tells you the day's temperature.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grid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engine is one click away. This is your command surface, not a feed to scroll.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first, opinions second. Two minutes here before any trade decision.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with a spine: 0–100.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context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risk-on / risk-off, trend, volatility percentile. Sizing multiplier comes from here.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intelligence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PCR, max pain, IV, OI buildups — what the derivatives market is actually positioned for.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setups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carries conviction 0–100 with entry, stop, target and quantity pre-computed.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Pop-up alerts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setups notify you anywhere in the app — enable the bell for background notifications.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conviction floor (e.g. 60) and never negotiate with it mid-session.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sign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TRANSPARENCY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black boxes. Every point documented.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9092"/>
            <a:ext cx="11064240" cy="443484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 intensity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204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open-interest thrust in the future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52360" y="2011680"/>
            <a:ext cx="3108960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10" name="Text 8"/>
          <p:cNvSpPr/>
          <p:nvPr/>
        </p:nvSpPr>
        <p:spPr>
          <a:xfrm>
            <a:off x="11109960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3637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momentum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23637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Day's directional push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52360" y="2455164"/>
            <a:ext cx="2543695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14" name="Text 12"/>
          <p:cNvSpPr/>
          <p:nvPr/>
        </p:nvSpPr>
        <p:spPr>
          <a:xfrm>
            <a:off x="11109960" y="23637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766060"/>
            <a:ext cx="11064240" cy="443484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07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Options-flow agreement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2807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option buying confirms direction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52360" y="2898648"/>
            <a:ext cx="2119745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19" name="Text 17"/>
          <p:cNvSpPr/>
          <p:nvPr/>
        </p:nvSpPr>
        <p:spPr>
          <a:xfrm>
            <a:off x="11109960" y="2807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32506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32506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count — can you actually get in and out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52360" y="3342132"/>
            <a:ext cx="1413164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23" name="Text 21"/>
          <p:cNvSpPr/>
          <p:nvPr/>
        </p:nvSpPr>
        <p:spPr>
          <a:xfrm>
            <a:off x="11109960" y="32506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3653028"/>
            <a:ext cx="11064240" cy="443484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6941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day-bias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20440" y="36941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 PCR alignment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52360" y="3785616"/>
            <a:ext cx="1413164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28" name="Text 26"/>
          <p:cNvSpPr/>
          <p:nvPr/>
        </p:nvSpPr>
        <p:spPr>
          <a:xfrm>
            <a:off x="11109960" y="36941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41376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Intraday trend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520440" y="41376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location in the day's range (CLV)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52360" y="4229100"/>
            <a:ext cx="1413164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2" name="Text 30"/>
          <p:cNvSpPr/>
          <p:nvPr/>
        </p:nvSpPr>
        <p:spPr>
          <a:xfrm>
            <a:off x="11109960" y="41376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4539996"/>
            <a:ext cx="11064240" cy="443484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5811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conviction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520440" y="4581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spurt into a directional close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52360" y="4672584"/>
            <a:ext cx="1413164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7" name="Text 35"/>
          <p:cNvSpPr/>
          <p:nvPr/>
        </p:nvSpPr>
        <p:spPr>
          <a:xfrm>
            <a:off x="11109960" y="4581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77240" y="50246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direction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520440" y="50246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Multi-week trend agreement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452360" y="5116068"/>
            <a:ext cx="706582" cy="155448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41" name="Text 39"/>
          <p:cNvSpPr/>
          <p:nvPr/>
        </p:nvSpPr>
        <p:spPr>
          <a:xfrm>
            <a:off x="11109960" y="50246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100. The same breakdown ships in the product and the docs — audit any signal, any day.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positioning, not predictions.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&amp; max pain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option writers expect the index to pin — the market's own consensus.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/ resistance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strikes with the heaviest OI walls, refreshed live.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context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IV favours buying options; rich IV favours structures that sell premium.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structures, not directions: range days → condors; walls → spreads against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option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list. Every engine's vote.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weight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setups, momentum rank, options flow, delivery spurts and heavyweight moves all add votes.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&amp; reasons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name shows LONG/SHORT and exactly why it was flagged — no mystery entries.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context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regime, VIX, index S/R at the top so the list reads with the backdrop, never in isolation.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watchlist is built for you by 6 engines. Curate down, don't add up.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like the greats — scored.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presets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Buffett, Minervini, Greenblatt — one click applies the filter set.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Universes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 100/200, S&amp;P 100, Nasdaq 100, or your custom tickers.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 Score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pillars: Value 30 · Quality 30 · Growth 25 · Yield 15. Missing data renormalizes — a non-payer isn't punished for skipping dividends.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Alpha Score, then read the raw columns. The score ranks; the columns explain.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scree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Technicals with a checklist.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search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candles, SMA-20, RSI-14 and fundamentals in a single view. ₹ and $ handled automatically.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VCP rating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Minervini's volatility-contraction pattern scored 0–5 stars — a setup-quality shortcut.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dash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vs forward, EPS growth, ROE, debt — pass/fail ticks against institutional thresholds.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here FROM a signal (or a dashboard click) — charts confirm ideas, they don't generate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money that settles.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FII / DII cash flows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institutional buy/sell with NIFTY context — who is really moving the tape.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%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auto-fetched from NSE daily. Delivered volume = conviction; intraday churn = noise.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the engine uses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spurt ≥1.3× the stock's own 20-day average INTO a strong close = accumulation. Into a weak close = distribution.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read delivery % raw — always vs the stock's own baseline. The engine does this for you.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fiidi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the business. Band the path.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calculator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auto-populated EPS/FCF/dividend bases, two-stage growth, margin-of-safety gauge.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Score in context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4-pillar score appears here — valuation never floats free of quality.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SARIMAX forecaster —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statistical trajectory with a 95% band. It frames uncertainty — it does not predict.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a margin of safety before the story. If MoS is deeply negative, the burden of proof flips.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d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DISCIPLINE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first. Enter second.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1% rule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per trade ≤ 1% of capital. The calculator turns entry + stop into an exact quantity.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scaling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volatility automatically scales suggested size down. Respect it.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1.5R minimum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targets are set at 1.5× risk — skip anything that can't pay that.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Arena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every trade, tick the discipline quests. The XP is fake; the habit is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241D10"/>
          </a:solidFill>
          <a:ln w="12700">
            <a:solidFill>
              <a:srgbClr val="5A4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  </a:t>
            </a:r>
            <a:pPr indent="0" marL="0">
              <a:buNone/>
            </a:pPr>
            <a:r>
              <a:rPr lang="en-US" sz="1200" dirty="0">
                <a:solidFill>
                  <a:srgbClr val="E9D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edge is the process surviving 100 trades — sizing is what keeps you in the game that long.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353312"/>
            <a:ext cx="5431536" cy="3295396"/>
          </a:xfrm>
          <a:prstGeom prst="roundRect">
            <a:avLst>
              <a:gd name="adj" fmla="val 2497"/>
            </a:avLst>
          </a:prstGeom>
          <a:solidFill>
            <a:srgbClr val="141419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C:\Users\yashs\.gemini\antigravity\scratch\5alpha_v2\research\webinar-shots\position_siz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03520" cy="3167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8C4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92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489204"/>
            <a:ext cx="6949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systematic daily routine.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2020824"/>
            <a:ext cx="475488" cy="475488"/>
          </a:xfrm>
          <a:prstGeom prst="ellipse">
            <a:avLst/>
          </a:prstGeom>
          <a:solidFill>
            <a:srgbClr val="E8C47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3544" y="2532888"/>
            <a:ext cx="0" cy="228600"/>
          </a:xfrm>
          <a:prstGeom prst="line">
            <a:avLst/>
          </a:prstGeom>
          <a:noFill/>
          <a:ln w="19050">
            <a:solidFill>
              <a:srgbClr val="3A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984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1947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Signals regime block. Risk-on or risk-off decides your sizing multiplier for the day.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798064"/>
            <a:ext cx="475488" cy="475488"/>
          </a:xfrm>
          <a:prstGeom prst="ellipse">
            <a:avLst/>
          </a:prstGeom>
          <a:solidFill>
            <a:srgbClr val="E8C47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3544" y="3310128"/>
            <a:ext cx="0" cy="228600"/>
          </a:xfrm>
          <a:prstGeom prst="line">
            <a:avLst/>
          </a:prstGeom>
          <a:noFill/>
          <a:ln w="19050">
            <a:solidFill>
              <a:srgbClr val="3A3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761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272491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Focus List with its reasons. Curate to 3–5 names max. Set your conviction floor.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575304"/>
            <a:ext cx="475488" cy="475488"/>
          </a:xfrm>
          <a:prstGeom prst="ellipse">
            <a:avLst/>
          </a:prstGeom>
          <a:solidFill>
            <a:srgbClr val="E8C47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3544" y="4087368"/>
            <a:ext cx="0" cy="228600"/>
          </a:xfrm>
          <a:prstGeom prst="line">
            <a:avLst/>
          </a:prstGeom>
          <a:noFill/>
          <a:ln w="19050">
            <a:solidFill>
              <a:srgbClr val="3A3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538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794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3240" y="3502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only on alerted setups above your floor. Size from the calculator. Structures over directions on indices.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352544"/>
            <a:ext cx="475488" cy="475488"/>
          </a:xfrm>
          <a:prstGeom prst="ellipse">
            <a:avLst/>
          </a:prstGeom>
          <a:solidFill>
            <a:srgbClr val="E8C47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343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3544" y="4864608"/>
            <a:ext cx="0" cy="228600"/>
          </a:xfrm>
          <a:prstGeom prst="line">
            <a:avLst/>
          </a:prstGeom>
          <a:noFill/>
          <a:ln w="19050">
            <a:solidFill>
              <a:srgbClr val="3A3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15:35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17320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63240" y="42793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FII/DII + delivery prints after close — did institutions confirm your names?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5129784"/>
            <a:ext cx="475488" cy="475488"/>
          </a:xfrm>
          <a:prstGeom prst="ellipse">
            <a:avLst/>
          </a:prstGeom>
          <a:solidFill>
            <a:srgbClr val="E8C47C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120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7320" y="5093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17320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63240" y="505663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Arena: log the trades, tick the quests. Review what the system said vs what you did.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051560"/>
            <a:ext cx="1005840" cy="1005840"/>
          </a:xfrm>
          <a:prstGeom prst="roundRect">
            <a:avLst>
              <a:gd name="adj" fmla="val 24545"/>
            </a:avLst>
          </a:prstGeom>
          <a:solidFill>
            <a:srgbClr val="E8C47C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7784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6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the process.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infrastructure — auditable factors, risk-adjusted thinking, daily discipline.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5alphav2.vercel.app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8006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58064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 provides analytics for educational purposes only. Nothing on the platform or in this presentation is investment advice, a recommendation, or an offer to buy or sell securities. Data may be delayed or inaccurate. Backtested and illustrative figures do not guarantee future results. Consult a registered adviser before investing.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 Nova — Systematic Trading Infrastructure</dc:title>
  <dc:subject>PptxGenJS Presentation</dc:subject>
  <dc:creator>Alpha Nova</dc:creator>
  <cp:lastModifiedBy>Alpha Nova</cp:lastModifiedBy>
  <cp:revision>1</cp:revision>
  <dcterms:created xsi:type="dcterms:W3CDTF">2026-07-05T01:22:05Z</dcterms:created>
  <dcterms:modified xsi:type="dcterms:W3CDTF">2026-07-05T01:22:05Z</dcterms:modified>
</cp:coreProperties>
</file>